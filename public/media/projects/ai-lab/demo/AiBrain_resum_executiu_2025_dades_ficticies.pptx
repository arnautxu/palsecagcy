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BF9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12064" y="43891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C9655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RESUM EXECUTIU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12064" y="758952"/>
            <a:ext cx="108813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27384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Resultat 2025: 0,91 M€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02920" y="6446520"/>
            <a:ext cx="11201400" cy="0"/>
          </a:xfrm>
          <a:prstGeom prst="line">
            <a:avLst/>
          </a:prstGeom>
          <a:noFill/>
          <a:ln w="12700">
            <a:solidFill>
              <a:srgbClr val="DEDCD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6510528"/>
            <a:ext cx="7498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100" kern="0" dirty="0">
                <a:solidFill>
                  <a:srgbClr val="778084"/>
                </a:solidFill>
              </a:rPr>
              <a:t>AIBRAIN · PROVA AMB DADES FICTÍCIES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11201400" y="6510528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778084"/>
                </a:solidFill>
              </a:rPr>
              <a:t>1</a:t>
            </a:r>
            <a:endParaRPr lang="en-US" sz="700" dirty="0"/>
          </a:p>
        </p:txBody>
      </p:sp>
      <p:sp>
        <p:nvSpPr>
          <p:cNvPr id="7" name="Text 5"/>
          <p:cNvSpPr/>
          <p:nvPr/>
        </p:nvSpPr>
        <p:spPr>
          <a:xfrm>
            <a:off x="530352" y="2148840"/>
            <a:ext cx="4389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0" b="1" dirty="0">
                <a:solidFill>
                  <a:srgbClr val="C96554"/>
                </a:solidFill>
              </a:rPr>
              <a:t>0,91 M€</a:t>
            </a:r>
            <a:endParaRPr lang="en-US" sz="5000" dirty="0"/>
          </a:p>
        </p:txBody>
      </p:sp>
      <p:sp>
        <p:nvSpPr>
          <p:cNvPr id="8" name="Text 6"/>
          <p:cNvSpPr/>
          <p:nvPr/>
        </p:nvSpPr>
        <p:spPr>
          <a:xfrm>
            <a:off x="557784" y="2962656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20" kern="0" dirty="0">
                <a:solidFill>
                  <a:srgbClr val="778084"/>
                </a:solidFill>
              </a:rPr>
              <a:t>RESULTAT CALCULAT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548640" y="379476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73840"/>
                </a:solidFill>
              </a:rPr>
              <a:t>10,8%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566928" y="4343400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78084"/>
                </a:solidFill>
              </a:rPr>
              <a:t>marge sobre facturació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3383280" y="379476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73840"/>
                </a:solidFill>
              </a:rPr>
              <a:t>7,51 M€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3401568" y="4343400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78084"/>
                </a:solidFill>
              </a:rPr>
              <a:t>despeses totals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6858000" y="1901952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73840"/>
                </a:solidFill>
              </a:rPr>
              <a:t>Composició de la facturació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858000" y="2487168"/>
            <a:ext cx="2786857" cy="393192"/>
          </a:xfrm>
          <a:prstGeom prst="rect">
            <a:avLst/>
          </a:prstGeom>
          <a:solidFill>
            <a:srgbClr val="273840"/>
          </a:solidFill>
          <a:ln w="12700">
            <a:solidFill>
              <a:srgbClr val="27384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644857" y="2487168"/>
            <a:ext cx="602288" cy="393192"/>
          </a:xfrm>
          <a:prstGeom prst="rect">
            <a:avLst/>
          </a:prstGeom>
          <a:solidFill>
            <a:srgbClr val="657B72"/>
          </a:solidFill>
          <a:ln w="12700">
            <a:solidFill>
              <a:srgbClr val="657B7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0247144" y="2487168"/>
            <a:ext cx="275623" cy="393192"/>
          </a:xfrm>
          <a:prstGeom prst="rect">
            <a:avLst/>
          </a:prstGeom>
          <a:solidFill>
            <a:srgbClr val="97B0A7"/>
          </a:solidFill>
          <a:ln w="12700">
            <a:solidFill>
              <a:srgbClr val="97B0A7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0522768" y="2487168"/>
            <a:ext cx="168436" cy="393192"/>
          </a:xfrm>
          <a:prstGeom prst="rect">
            <a:avLst/>
          </a:prstGeom>
          <a:solidFill>
            <a:srgbClr val="D8D3C7"/>
          </a:solidFill>
          <a:ln w="12700">
            <a:solidFill>
              <a:srgbClr val="D8D3C7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0691204" y="2487168"/>
            <a:ext cx="464476" cy="393192"/>
          </a:xfrm>
          <a:prstGeom prst="rect">
            <a:avLst/>
          </a:prstGeom>
          <a:solidFill>
            <a:srgbClr val="C96554"/>
          </a:solidFill>
          <a:ln w="12700">
            <a:solidFill>
              <a:srgbClr val="C9655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858000" y="3154680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73840"/>
                </a:solidFill>
              </a:rPr>
              <a:t>Cost de producte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10058400" y="3154680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273840"/>
                </a:solidFill>
              </a:rPr>
              <a:t>5,46 M€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858000" y="3584448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73840"/>
                </a:solidFill>
              </a:rPr>
              <a:t>Personal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0058400" y="3584448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273840"/>
                </a:solidFill>
              </a:rPr>
              <a:t>1,18 M€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858000" y="4014216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73840"/>
                </a:solidFill>
              </a:rPr>
              <a:t>Lloguers i subministraments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10058400" y="4014216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273840"/>
                </a:solidFill>
              </a:rPr>
              <a:t>0,54 M€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6858000" y="4443984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73840"/>
                </a:solidFill>
              </a:rPr>
              <a:t>Altres despeses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10058400" y="4443984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273840"/>
                </a:solidFill>
              </a:rPr>
              <a:t>0,33 M€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858000" y="4873752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73840"/>
                </a:solidFill>
              </a:rPr>
              <a:t>Resultat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10058400" y="4873752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273840"/>
                </a:solidFill>
              </a:rPr>
              <a:t>0,91 M€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548640" y="5715000"/>
            <a:ext cx="1060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78084"/>
                </a:solidFill>
              </a:rPr>
              <a:t>La presentació mostra només la reconciliació aritmètica de les xifres facilitades. No atribueix causes al resultat.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BF9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12064" y="43891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C9655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RESULTAT 2025 · PROVA FICTÍCIA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12064" y="758952"/>
            <a:ext cx="108813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27384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 la facturació al resultat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02920" y="6446520"/>
            <a:ext cx="11201400" cy="0"/>
          </a:xfrm>
          <a:prstGeom prst="line">
            <a:avLst/>
          </a:prstGeom>
          <a:noFill/>
          <a:ln w="12700">
            <a:solidFill>
              <a:srgbClr val="DEDCD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6510528"/>
            <a:ext cx="7498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100" kern="0" dirty="0">
                <a:solidFill>
                  <a:srgbClr val="778084"/>
                </a:solidFill>
              </a:rPr>
              <a:t>AIBRAIN · PROVA AMB DADES FICTÍCIES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11201400" y="6510528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778084"/>
                </a:solidFill>
              </a:rPr>
              <a:t>2</a:t>
            </a:r>
            <a:endParaRPr lang="en-US" sz="700" dirty="0"/>
          </a:p>
        </p:txBody>
      </p:sp>
      <p:sp>
        <p:nvSpPr>
          <p:cNvPr id="7" name="Text 5"/>
          <p:cNvSpPr/>
          <p:nvPr/>
        </p:nvSpPr>
        <p:spPr>
          <a:xfrm>
            <a:off x="530352" y="138988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78084"/>
                </a:solidFill>
              </a:rPr>
              <a:t>Reconciliació aritmètica de les xifres facilitades.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48640" y="193852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73840"/>
                </a:solidFill>
              </a:rPr>
              <a:t>Facturació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154680" y="1956816"/>
            <a:ext cx="7223760" cy="256032"/>
          </a:xfrm>
          <a:prstGeom prst="rect">
            <a:avLst/>
          </a:prstGeom>
          <a:solidFill>
            <a:srgbClr val="273840"/>
          </a:solidFill>
          <a:ln w="12700">
            <a:solidFill>
              <a:srgbClr val="27384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378440" y="193852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273840"/>
                </a:solidFill>
              </a:rPr>
              <a:t>8,42 M€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48640" y="269748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73840"/>
                </a:solidFill>
              </a:rPr>
              <a:t>Cost de producte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154680" y="2715768"/>
            <a:ext cx="4684291" cy="256032"/>
          </a:xfrm>
          <a:prstGeom prst="rect">
            <a:avLst/>
          </a:prstGeom>
          <a:solidFill>
            <a:srgbClr val="273840"/>
          </a:solidFill>
          <a:ln w="12700">
            <a:solidFill>
              <a:srgbClr val="27384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378440" y="269748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273840"/>
                </a:solidFill>
              </a:rPr>
              <a:t>−5,46 M€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48640" y="345643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73840"/>
                </a:solidFill>
              </a:rPr>
              <a:t>Personal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154680" y="3474720"/>
            <a:ext cx="3671935" cy="256032"/>
          </a:xfrm>
          <a:prstGeom prst="rect">
            <a:avLst/>
          </a:prstGeom>
          <a:solidFill>
            <a:srgbClr val="273840"/>
          </a:solidFill>
          <a:ln w="12700">
            <a:solidFill>
              <a:srgbClr val="27384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378440" y="345643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273840"/>
                </a:solidFill>
              </a:rPr>
              <a:t>−1,18 M€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48640" y="4215384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73840"/>
                </a:solidFill>
              </a:rPr>
              <a:t>Altres costos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3154680" y="4233672"/>
            <a:ext cx="2925537" cy="256032"/>
          </a:xfrm>
          <a:prstGeom prst="rect">
            <a:avLst/>
          </a:prstGeom>
          <a:solidFill>
            <a:srgbClr val="273840"/>
          </a:solidFill>
          <a:ln w="12700">
            <a:solidFill>
              <a:srgbClr val="27384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378440" y="4215384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273840"/>
                </a:solidFill>
              </a:rPr>
              <a:t>−0,87 M€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48640" y="4974336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73840"/>
                </a:solidFill>
              </a:rPr>
              <a:t>Resultat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3154680" y="4992624"/>
            <a:ext cx="780715" cy="256032"/>
          </a:xfrm>
          <a:prstGeom prst="rect">
            <a:avLst/>
          </a:prstGeom>
          <a:solidFill>
            <a:srgbClr val="C96554"/>
          </a:solidFill>
          <a:ln w="12700">
            <a:solidFill>
              <a:srgbClr val="C9655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0378440" y="4974336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273840"/>
                </a:solidFill>
              </a:rPr>
              <a:t>0,91 M€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BF9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12064" y="43891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C9655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ABANS DE PRENDRE DECISIONS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12064" y="758952"/>
            <a:ext cx="108813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27384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Dades pendents de contrastar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02920" y="6446520"/>
            <a:ext cx="11201400" cy="0"/>
          </a:xfrm>
          <a:prstGeom prst="line">
            <a:avLst/>
          </a:prstGeom>
          <a:noFill/>
          <a:ln w="12700">
            <a:solidFill>
              <a:srgbClr val="DEDCD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6510528"/>
            <a:ext cx="7498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100" kern="0" dirty="0">
                <a:solidFill>
                  <a:srgbClr val="778084"/>
                </a:solidFill>
              </a:rPr>
              <a:t>AIBRAIN · PROVA AMB DADES FICTÍCIES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11201400" y="6510528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778084"/>
                </a:solidFill>
              </a:rPr>
              <a:t>3</a:t>
            </a:r>
            <a:endParaRPr lang="en-US" sz="700" dirty="0"/>
          </a:p>
        </p:txBody>
      </p:sp>
      <p:sp>
        <p:nvSpPr>
          <p:cNvPr id="7" name="Text 5"/>
          <p:cNvSpPr/>
          <p:nvPr/>
        </p:nvSpPr>
        <p:spPr>
          <a:xfrm>
            <a:off x="548640" y="192024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96554"/>
                </a:solidFill>
              </a:rPr>
              <a:t>01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325880" y="192024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273840"/>
                </a:solidFill>
              </a:rPr>
              <a:t>Origen i període de les dades de facturació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548640" y="2432304"/>
            <a:ext cx="10881360" cy="0"/>
          </a:xfrm>
          <a:prstGeom prst="line">
            <a:avLst/>
          </a:prstGeom>
          <a:noFill/>
          <a:ln w="12700">
            <a:solidFill>
              <a:srgbClr val="DEDCD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274320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96554"/>
                </a:solidFill>
              </a:rPr>
              <a:t>02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325880" y="274320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273840"/>
                </a:solidFill>
              </a:rPr>
              <a:t>Criteri d’imputació dels costos i despeses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548640" y="3255264"/>
            <a:ext cx="10881360" cy="0"/>
          </a:xfrm>
          <a:prstGeom prst="line">
            <a:avLst/>
          </a:prstGeom>
          <a:noFill/>
          <a:ln w="12700">
            <a:solidFill>
              <a:srgbClr val="DEDCD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356616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96554"/>
                </a:solidFill>
              </a:rPr>
              <a:t>03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325880" y="356616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273840"/>
                </a:solidFill>
              </a:rPr>
              <a:t>Partides extraordinàries i ajustos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548640" y="4078224"/>
            <a:ext cx="10881360" cy="0"/>
          </a:xfrm>
          <a:prstGeom prst="line">
            <a:avLst/>
          </a:prstGeom>
          <a:noFill/>
          <a:ln w="12700">
            <a:solidFill>
              <a:srgbClr val="DEDCD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" y="438912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96554"/>
                </a:solidFill>
              </a:rPr>
              <a:t>04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325880" y="438912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273840"/>
                </a:solidFill>
              </a:rPr>
              <a:t>Comparació amb exercicis anteriors</a:t>
            </a:r>
            <a:endParaRPr lang="en-US" sz="1700" dirty="0"/>
          </a:p>
        </p:txBody>
      </p:sp>
      <p:sp>
        <p:nvSpPr>
          <p:cNvPr id="18" name="Shape 16"/>
          <p:cNvSpPr/>
          <p:nvPr/>
        </p:nvSpPr>
        <p:spPr>
          <a:xfrm>
            <a:off x="548640" y="4901184"/>
            <a:ext cx="10881360" cy="0"/>
          </a:xfrm>
          <a:prstGeom prst="line">
            <a:avLst/>
          </a:prstGeom>
          <a:noFill/>
          <a:ln w="12700">
            <a:solidFill>
              <a:srgbClr val="DEDCD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48640" y="5833872"/>
            <a:ext cx="1060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78084"/>
                </a:solidFill>
              </a:rPr>
              <a:t>Aquest document és una demostració. Totes les xifres són fictícies.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AiBrain — Resum executiu fictici</dc:title>
  <dc:subject>Demostració d'AiBrain amb dades fictícies</dc:subject>
  <dc:creator>PALSEC AI LAB</dc:creator>
  <cp:lastModifiedBy>PALSEC AI LAB</cp:lastModifiedBy>
  <cp:revision>1</cp:revision>
  <dcterms:created xsi:type="dcterms:W3CDTF">2026-09-24T08:05:05Z</dcterms:created>
  <dcterms:modified xsi:type="dcterms:W3CDTF">2026-09-24T08:05:05Z</dcterms:modified>
</cp:coreProperties>
</file>